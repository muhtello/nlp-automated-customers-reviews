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73234" autoAdjust="0"/>
  </p:normalViewPr>
  <p:slideViewPr>
    <p:cSldViewPr snapToGrid="0" snapToObjects="1">
      <p:cViewPr varScale="1">
        <p:scale>
          <a:sx n="118" d="100"/>
          <a:sy n="118" d="100"/>
        </p:scale>
        <p:origin x="412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34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 We're presenting our NLP business case project — an automated customer review system built on real Amazon product review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problem we set out to solve. E-commerce platforms collect thousands of reviews per product, and realistically, nobody reads all of them — not shoppers , not the businesses selling the product. A shopper wants a fast answer: is this thing actually good? A business wants a different answer: what do people keep complaining about, across their whole catalog? So our goal was to build a system that reads through that pile of reviews automatically and turns it into three things: a sentiment label per review, a set of product categories, and a short, readable summary article per category. Then we wrapped all three into one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Ursula and me started with the data itself. We had three overlapping Datafiniti exports of Amazon reviews — merge them, clean them, them, and you get almost 60,000 unique reviews. Real-world data comes with real problems, though. The product ID field turned out to be unreliable: about 11% of reviews shared an ID with a completely unrelated product. we traced that down and fixed the pipeline order — merge first, then clean, — and switched to a cleaned product name as the trusted key instead of the broken ID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there, Ursula grouped the 106 distinct products into five meta-categories, using unsupervised clustering refined with the dataset's own category metadata. The split isn't even, and that's worth saying out loud rather than hiding: Tablets make up roughly half of all reviews, and Non-Electronics — things like pet carriers and Nespresso pods — has only 9 reviews total. That's too small to draw any real conclusions from on its own, so we flagged it instead of pretending it's a meaningful category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part starts with sentiment analysis. Reviews skew heavily positive — about 69% are five stars — which makes plain accuracy a misleading scoreboard; a model that always guesses “positive” would still score in the mid-90s without learning anything. So I fine-tuned and compared five pretrained transformers, used class-weighted training to counter the imbalance, and judged them on macro F1 instead of accuracy, since macro F1 doesn't let the majority class hide the model's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winner was a Twitter-pretrained RoBERTa model, at 99.07% accuracy and 0.939 macro F1 — the best balance across both classes, not just the easy one. All five models are on screen if anyone wants the full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that model's confusion matrix. I want to be upfront about the weak spot instead of glossing over it: negative-review recall is the hardest part of this problem. Mixed-sentiment reviews — someone loving a product but calling it overpriced — tend to get misread as positive, because in this dataset the word “expensive” shows up in positive reviews 96% of the time. That's a documented limitation of the training data, not a bug we're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half of my work is generative summarization. For each category, the pipeline aggregates real numbers — top-rated products, sample complaint text, the single worst-rated product — and feeds that into an LLM with a prompt that explicitly forbids inventing facts. What comes out is a short, readable article: top picks, what people actually complain about, and one product to avoid. For E-Readers, for instance, it correctly surfaced the Kindle Paperwhite as a top pick, and flagged a specific replacement power adapter — by name, with real complaint quotes — as the one to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chatbot is where Ursula's and my work actually meet. Instead of just talking around the reviews, it can query the dataset live — look up one specific product, rank the best or worst in a category, or pull two contrasting reviews for a side-by-side comparison. We also gave it two personalities: an enthusiastic recommender that leads with what reviewers loved, and a skeptical anti-recommender that leads with the complaints and tries to talk you out of buying. Same underlying data, two honest angles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models live inside one Next.js and FastAPI web app. There's a dashboard where you browse by category and see rating stats next to the generated article, a search box where you type a product or category and get back its sentiment breakdown and a summary snippet, and the chatbot sits in a drawer throughout, so you can ask a follow-up question no matter where you are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our project. Thank you — we're happy to take questions, and if anyone wants, we can pull up the chatbot live and try both personas on a real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E3A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2194560" cy="219456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1463040" cy="1463040"/>
          </a:xfrm>
          <a:prstGeom prst="ellipse">
            <a:avLst/>
          </a:prstGeom>
          <a:solidFill>
            <a:srgbClr val="FB7185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9322" y="1105510"/>
            <a:ext cx="555955" cy="347472"/>
          </a:xfrm>
          <a:prstGeom prst="roundRect">
            <a:avLst>
              <a:gd name="adj" fmla="val 15789"/>
            </a:avLst>
          </a:prstGeom>
          <a:solidFill>
            <a:srgbClr val="1421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8817" y="1400861"/>
            <a:ext cx="121615" cy="121615"/>
          </a:xfrm>
          <a:prstGeom prst="triangle">
            <a:avLst/>
          </a:prstGeom>
          <a:solidFill>
            <a:srgbClr val="1421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 ·  NLP BUSINESS CASE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thousands of Amazon reviews into sentiment, product categories, and recommendation articles — automatically.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512064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2E3A8C">
              <a:alpha val="65000"/>
            </a:srgbClr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541324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Ursula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5596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0" y="512064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2E3A8C">
              <a:alpha val="65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04688" y="5413248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5596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GenAI Summarization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62026" y="616306"/>
            <a:ext cx="340157" cy="340157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750" y="741030"/>
            <a:ext cx="90708" cy="907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Our Goal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 per product — realistically, no one reads them all.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13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 are 5-star — a heavy skew we had to design around.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EFED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we're answering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5056632"/>
            <a:ext cx="4480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shopper wants a fast read: is this actually good? A business wants a different one: what do customers keep complaining about? We built one system to answer both.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7064" y="1943100"/>
            <a:ext cx="70409" cy="1106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42736" y="1862633"/>
            <a:ext cx="70409" cy="191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8407" y="1782166"/>
            <a:ext cx="70409" cy="2715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192938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review as Positive or Negative.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502920" cy="502920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7064" y="320954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18174" y="320954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7064" y="340065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18174" y="340065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0723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12280" y="334670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products into 4–6 meta-categories.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526280"/>
            <a:ext cx="502920" cy="50292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2268" y="4616806"/>
            <a:ext cx="231343" cy="321869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297473" y="4687214"/>
            <a:ext cx="160934" cy="2514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9" name="Shape 27"/>
          <p:cNvSpPr/>
          <p:nvPr/>
        </p:nvSpPr>
        <p:spPr>
          <a:xfrm>
            <a:off x="6297473" y="4757623"/>
            <a:ext cx="160934" cy="2514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0" name="Shape 28"/>
          <p:cNvSpPr/>
          <p:nvPr/>
        </p:nvSpPr>
        <p:spPr>
          <a:xfrm>
            <a:off x="6297473" y="4828032"/>
            <a:ext cx="160934" cy="2514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448970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12280" y="476402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short recommendation article per category.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90372" y="655991"/>
            <a:ext cx="283464" cy="1814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90372" y="797723"/>
            <a:ext cx="283464" cy="793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0372" y="616306"/>
            <a:ext cx="283464" cy="7937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896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Ursula — Data Preprocessing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647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59,743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3232" y="24688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reviews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 + dedupe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647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product IDs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(unreliable — see below)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7647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27648" y="24688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product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0264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17647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34856" y="24688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— a narrow,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Amazon-device catalog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91672" cy="2606040"/>
          </a:xfrm>
          <a:prstGeom prst="roundRect">
            <a:avLst>
              <a:gd name="adj" fmla="val 2807"/>
            </a:avLst>
          </a:prstGeom>
          <a:solidFill>
            <a:srgbClr val="FFF0E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033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 found — and fixed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4050792"/>
            <a:ext cx="1054303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ID field is unreliable: about 11% of reviews (21 of 89 IDs) shared an ID with a completely unrelated product — one ID covered an Echo, a Fire tablet, a Kindle cover, a USB charger, and even coconut water. Some product names were also corrupted, with two unrelated names concatenated in one field.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merge all three raw files first, then clean, then dedupe — and use a cleaned product name (first comma-separated segment) as the trusted key instead of the broken ID.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62026" y="616306"/>
            <a:ext cx="147401" cy="147401"/>
          </a:xfrm>
          <a:prstGeom prst="roundRect">
            <a:avLst>
              <a:gd name="adj" fmla="val 1240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77458" y="616306"/>
            <a:ext cx="147401" cy="147401"/>
          </a:xfrm>
          <a:prstGeom prst="roundRect">
            <a:avLst>
              <a:gd name="adj" fmla="val 1240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62026" y="831738"/>
            <a:ext cx="147401" cy="147401"/>
          </a:xfrm>
          <a:prstGeom prst="roundRect">
            <a:avLst>
              <a:gd name="adj" fmla="val 1240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77458" y="831738"/>
            <a:ext cx="147401" cy="147401"/>
          </a:xfrm>
          <a:prstGeom prst="roundRect">
            <a:avLst>
              <a:gd name="adj" fmla="val 1240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Clustering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896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Ursula — Unsupervised Clustering</a:t>
            </a:r>
            <a:endParaRPr lang="en-US" sz="1200" dirty="0"/>
          </a:p>
        </p:txBody>
      </p:sp>
      <p:pic>
        <p:nvPicPr>
          <p:cNvPr id="9" name="Image 0" descr="/sessions/cool-epic-allen/mnt/outputs/charts/categor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949440" cy="32430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8120" y="1691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meta-categories, from 106 distinct products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8120" y="25146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on product text, refined with the dataset's own category metadata to keep group names interpretable.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4160520"/>
            <a:ext cx="3840480" cy="1965960"/>
          </a:xfrm>
          <a:prstGeom prst="roundRect">
            <a:avLst>
              <a:gd name="adj" fmla="val 3721"/>
            </a:avLst>
          </a:prstGeom>
          <a:solidFill>
            <a:srgbClr val="FFF0EF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 is too small to trust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92440" y="4690872"/>
            <a:ext cx="32918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Non-Electronics has only 9 reviews across 7 products — we flagged it rather than drawing conclusions from it alone.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62026" y="786384"/>
            <a:ext cx="79370" cy="1247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2419" y="695676"/>
            <a:ext cx="79370" cy="215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22812" y="604967"/>
            <a:ext cx="79370" cy="30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Analysis: Approach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896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Muhanad — Sentiment Model + GenAI Summarization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" y="1883664"/>
            <a:ext cx="301752" cy="30175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9866" y="1994306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74650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2-class design, on purpose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020824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ambiguous Neutral (3-star) class — mixed-sentiment text with a small, noisy sample — to focus on the two classes with clear textual signal.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" y="3300984"/>
            <a:ext cx="301752" cy="271577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85012" y="3391510"/>
            <a:ext cx="30175" cy="9052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6" name="Shape 14"/>
          <p:cNvSpPr/>
          <p:nvPr/>
        </p:nvSpPr>
        <p:spPr>
          <a:xfrm>
            <a:off x="782498" y="3502152"/>
            <a:ext cx="35204" cy="352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16382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training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438144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Countered the 69%-positive skew so the model can't just default to “positive” and still look accurate.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" y="4869180"/>
            <a:ext cx="70409" cy="1106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4896" y="4788713"/>
            <a:ext cx="70409" cy="191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80567" y="4708246"/>
            <a:ext cx="70409" cy="2715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458114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pretrained models compared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855464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DistilBERT, RoBERTa, Twitter-RoBERTa, and multilingual BERT — selected by macro F1, not raw accuracy.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178308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EFEDF4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fine-tuned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83880" y="2423160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6C5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2423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distilbert-base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3081528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6C5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30815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3739896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6C5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37398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roberta-base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83880" y="4398264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6C5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43982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cardiffnlp-twitter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83880" y="5056632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6C5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50566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nlptown-multilingual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62026" y="786384"/>
            <a:ext cx="79370" cy="1247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2419" y="695676"/>
            <a:ext cx="79370" cy="215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22812" y="604967"/>
            <a:ext cx="79370" cy="30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Analysis: Results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99.07%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best model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— the metric that matters here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Twitter-RoBERTa (cardiffnlp) — best balance across both classes, not just the easy one.</a:t>
            </a:r>
            <a:endParaRPr lang="en-US" sz="1250" dirty="0"/>
          </a:p>
        </p:txBody>
      </p:sp>
      <p:pic>
        <p:nvPicPr>
          <p:cNvPr id="12" name="Image 0" descr="/sessions/cool-epic-allen/mnt/outputs/char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46120"/>
            <a:ext cx="6126480" cy="28590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37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 F1, not accuracy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dataset's 69%-positive skew, a model that always guesses “positive” would still score around 96% accuracy without learning anything. Macro F1 treats both classes equally, so it can't be fooled by the imbalance — that's what we used to pick a winner.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03720" y="3657600"/>
            <a:ext cx="4754880" cy="2331720"/>
          </a:xfrm>
          <a:prstGeom prst="roundRect">
            <a:avLst>
              <a:gd name="adj" fmla="val 3137"/>
            </a:avLst>
          </a:prstGeom>
          <a:solidFill>
            <a:srgbClr val="EFEDF4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3840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models, ranked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4187952"/>
            <a:ext cx="4206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cardiffnlp-twitter  99.07% / 0.939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           99.05% / 0.937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                98.96% / 0.932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       98.87% / 0.928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nlptown-multi         98.64% / 0.911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62026" y="616306"/>
            <a:ext cx="340157" cy="30614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5096" y="718353"/>
            <a:ext cx="34016" cy="102047"/>
          </a:xfrm>
          <a:prstGeom prst="rect">
            <a:avLst/>
          </a:prstGeom>
          <a:solidFill>
            <a:srgbClr val="2E3A8C"/>
          </a:solidFill>
          <a:ln/>
        </p:spPr>
      </p:sp>
      <p:sp>
        <p:nvSpPr>
          <p:cNvPr id="5" name="Shape 3"/>
          <p:cNvSpPr/>
          <p:nvPr/>
        </p:nvSpPr>
        <p:spPr>
          <a:xfrm>
            <a:off x="812262" y="843077"/>
            <a:ext cx="39685" cy="39685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the Weak Spot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5648325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4E1E9"/>
            </a:solidFill>
            <a:prstDash val="solid"/>
          </a:ln>
        </p:spPr>
      </p:sp>
      <p:pic>
        <p:nvPicPr>
          <p:cNvPr id="8" name="Image 0" descr="/sessions/cool-epic-allen/mnt/outputs/charts/confusion_matrix_cardiff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374005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554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Negative-review recall is the hard part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09360" y="2240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of 222 genuinely negative reviews were still misread as positive. Class weighting and macro-F1 selection helped, but mixed-sentiment text remains the failure mode.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329184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FF0EF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example we traced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83680" y="3822192"/>
            <a:ext cx="47548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son loves it. And it's too expensive!” gets predicted Positive with 99.9% confidence. Why: of 1,157 training reviews containing “expensive,” 96.5% are Positive — mostly “inexpensive” or favorable comparisons. The model learned that correlation correctly; genuine price complaints are a documented blind spot, not a bug we're hiding.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701711" y="604967"/>
            <a:ext cx="260787" cy="362834"/>
          </a:xfrm>
          <a:prstGeom prst="roundRect">
            <a:avLst>
              <a:gd name="adj" fmla="val 1051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41396" y="684337"/>
            <a:ext cx="181417" cy="28346"/>
          </a:xfrm>
          <a:prstGeom prst="rect">
            <a:avLst/>
          </a:prstGeom>
          <a:solidFill>
            <a:srgbClr val="2E3A8C"/>
          </a:solidFill>
          <a:ln/>
        </p:spPr>
      </p:sp>
      <p:sp>
        <p:nvSpPr>
          <p:cNvPr id="5" name="Shape 3"/>
          <p:cNvSpPr/>
          <p:nvPr/>
        </p:nvSpPr>
        <p:spPr>
          <a:xfrm>
            <a:off x="741396" y="763707"/>
            <a:ext cx="181417" cy="28346"/>
          </a:xfrm>
          <a:prstGeom prst="rect">
            <a:avLst/>
          </a:prstGeom>
          <a:solidFill>
            <a:srgbClr val="2E3A8C"/>
          </a:solidFill>
          <a:ln/>
        </p:spPr>
      </p:sp>
      <p:sp>
        <p:nvSpPr>
          <p:cNvPr id="6" name="Shape 4"/>
          <p:cNvSpPr/>
          <p:nvPr/>
        </p:nvSpPr>
        <p:spPr>
          <a:xfrm>
            <a:off x="741396" y="843077"/>
            <a:ext cx="181417" cy="28346"/>
          </a:xfrm>
          <a:prstGeom prst="rect">
            <a:avLst/>
          </a:prstGeom>
          <a:solidFill>
            <a:srgbClr val="2E3A8C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Summarization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896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Muhanad — Sentiment Model + GenAI Summarization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0" name="Shape 8"/>
          <p:cNvSpPr/>
          <p:nvPr/>
        </p:nvSpPr>
        <p:spPr>
          <a:xfrm>
            <a:off x="674370" y="1918868"/>
            <a:ext cx="251460" cy="160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74370" y="2044598"/>
            <a:ext cx="251460" cy="704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74370" y="1883664"/>
            <a:ext cx="251460" cy="7040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3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74650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real stats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02082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products, sample complaint text, and the single worst-rated product per category.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9166" y="3311042"/>
            <a:ext cx="321869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79399" y="3482035"/>
            <a:ext cx="70409" cy="70409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16382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 LLM, tightly scoped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43814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only the data below — do not invent products, ratings, or complaints.”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1" name="Shape 19"/>
          <p:cNvSpPr/>
          <p:nvPr/>
        </p:nvSpPr>
        <p:spPr>
          <a:xfrm>
            <a:off x="684428" y="4708246"/>
            <a:ext cx="231343" cy="321869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633" y="4778654"/>
            <a:ext cx="160934" cy="2514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3" name="Shape 21"/>
          <p:cNvSpPr/>
          <p:nvPr/>
        </p:nvSpPr>
        <p:spPr>
          <a:xfrm>
            <a:off x="719633" y="4849063"/>
            <a:ext cx="160934" cy="2514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4" name="Shape 22"/>
          <p:cNvSpPr/>
          <p:nvPr/>
        </p:nvSpPr>
        <p:spPr>
          <a:xfrm>
            <a:off x="719633" y="4919472"/>
            <a:ext cx="160934" cy="2514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458114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comes a short article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485546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picks, what reviewers actually complain about, and one product to avoid.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160020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4E1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E-READERS &amp; E-BOOKS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2376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pick: Kindle Paperwhite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2450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4.89 / 5.0 average, zero recorded complaints across its reviews.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23760" y="3017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 avoid: Kindle Replacement Power Adapter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3566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/ 5.0 average. Reviewers report the cord's outer insulation cracking and falling off after minimal use.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23760" y="4343400"/>
            <a:ext cx="4114800" cy="0"/>
          </a:xfrm>
          <a:prstGeom prst="line">
            <a:avLst/>
          </a:prstGeom>
          <a:noFill/>
          <a:ln w="12700">
            <a:solidFill>
              <a:srgbClr val="E4E1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45262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short blog-post-style article — keep the tone helpful and factual, not salesy.”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50687" y="627644"/>
            <a:ext cx="362834" cy="226771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96041" y="820400"/>
            <a:ext cx="79370" cy="7937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896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Ursula + Muhanad — Joint Effort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halves of the project meet: clustering metadata + sentiment + generated summaries, queried live.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E7F7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persona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542032"/>
            <a:ext cx="48463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 and encouraging. Leads with what reviewers loved, and ends on a confident buy-it recommendation when the data supports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01168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0EF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Anti-Recommender persona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2542032"/>
            <a:ext cx="48463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Sarcastic and skeptical, on purpose. Leads with complaints and buyer's remorse from real reviews, and pushes back on the purchase.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544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data — two honest angles on 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real data via function-calling: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3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85232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lookup_product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28139" y="5285232"/>
            <a:ext cx="192572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8139" y="5285232"/>
            <a:ext cx="1925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compare_product_reviews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82466" y="5285232"/>
            <a:ext cx="117591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2466" y="5285232"/>
            <a:ext cx="11759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rank_products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" name="Shape 1"/>
          <p:cNvSpPr/>
          <p:nvPr/>
        </p:nvSpPr>
        <p:spPr>
          <a:xfrm>
            <a:off x="650687" y="627644"/>
            <a:ext cx="362834" cy="215433"/>
          </a:xfrm>
          <a:prstGeom prst="roundRect">
            <a:avLst>
              <a:gd name="adj" fmla="val 1273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8088" y="843077"/>
            <a:ext cx="68031" cy="45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0057" y="888431"/>
            <a:ext cx="204094" cy="25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457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Product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" y="188366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40334" y="188366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" y="207477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40334" y="2074774"/>
            <a:ext cx="130759" cy="130759"/>
          </a:xfrm>
          <a:prstGeom prst="roundRect">
            <a:avLst>
              <a:gd name="adj" fmla="val 139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174650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dashboard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020824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category and see rating stats alongside the generated recommendation article.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" y="3300984"/>
            <a:ext cx="301752" cy="30175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9866" y="3411626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1638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438144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product or category, get back its matched category, sentiment split, and a summary snippet.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166" y="4728362"/>
            <a:ext cx="321869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399" y="4899355"/>
            <a:ext cx="70409" cy="70409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5811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drawer, everywhere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855464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5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follow-up question from anywhere in the app — it has the same live data as the dashboard.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178308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2E3A8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2057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9503" y="2228393"/>
            <a:ext cx="497434" cy="295351"/>
          </a:xfrm>
          <a:prstGeom prst="roundRect">
            <a:avLst>
              <a:gd name="adj" fmla="val 9288"/>
            </a:avLst>
          </a:prstGeom>
          <a:solidFill>
            <a:srgbClr val="2E3A8C"/>
          </a:solidFill>
          <a:ln/>
        </p:spPr>
      </p:sp>
      <p:sp>
        <p:nvSpPr>
          <p:cNvPr id="27" name="Shape 25"/>
          <p:cNvSpPr/>
          <p:nvPr/>
        </p:nvSpPr>
        <p:spPr>
          <a:xfrm>
            <a:off x="8571586" y="2523744"/>
            <a:ext cx="93269" cy="62179"/>
          </a:xfrm>
          <a:prstGeom prst="rect">
            <a:avLst/>
          </a:prstGeom>
          <a:solidFill>
            <a:srgbClr val="2E3A8C"/>
          </a:solidFill>
          <a:ln/>
        </p:spPr>
      </p:sp>
      <p:sp>
        <p:nvSpPr>
          <p:cNvPr id="28" name="Shape 26"/>
          <p:cNvSpPr/>
          <p:nvPr/>
        </p:nvSpPr>
        <p:spPr>
          <a:xfrm>
            <a:off x="8478317" y="2585923"/>
            <a:ext cx="279806" cy="34976"/>
          </a:xfrm>
          <a:prstGeom prst="rect">
            <a:avLst/>
          </a:prstGeom>
          <a:solidFill>
            <a:srgbClr val="2E3A8C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30175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83880" y="38404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product combining all three models.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Reviews  ·  Ironhack NLP Business Case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3840480" cy="3840480"/>
          </a:xfrm>
          <a:prstGeom prst="ellipse">
            <a:avLst/>
          </a:prstGeom>
          <a:solidFill>
            <a:srgbClr val="2E3A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FB718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96596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367528" y="1965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—  or we can pull up the chatbot live and try both personas on a real product.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1980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Muhanad Tello</cp:lastModifiedBy>
  <cp:revision>7</cp:revision>
  <dcterms:created xsi:type="dcterms:W3CDTF">2026-07-24T11:09:14Z</dcterms:created>
  <dcterms:modified xsi:type="dcterms:W3CDTF">2026-07-24T12:52:36Z</dcterms:modified>
</cp:coreProperties>
</file>